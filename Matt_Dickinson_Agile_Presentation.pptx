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[Sources],- Uploaded deck used as content baseline: Agile_Presentation_ChadaTech_SNHU_Travel.pptx,[/Sources]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[Sources],- https://scrumguides.org/docs/scrumguide/v2020/2020-Scrum-Guide-US.pdf (roles/accountabilities),[/Sources]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[Sources],- https://scrumguides.org/docs/scrumguide/v2020/2020-Scrum-Guide-US.pdf (Scrum events and sprint flow),- https://doi.org/10.2478/picbe-2025-0172 (iterative delivery, coordination challenges in large organizations),[/Sources]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[Sources],- https://doi.org/10.2478/kbo-2024-0087 (agile vs. traditional project management trends),- https://doi.org/10.2478/picbe-2025-0172 (challenges, scaling, and hybrid approaches),[/Sources]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[Sources],- https://doi.org/10.2478/kbo-2024-0087 (digital transformation and agile trends),- https://doi.org/10.2478/picbe-2025-0172 (large-organization challenges and hybrid models),[/Sources]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[Sources],- https://agilealliance.org/resources/experience-reports/ibm-sales-cloud-transforming-the-way-we-sell-globally/ (enterprise agile case),- https://doi.org/10.59365/amsj.3(2).2025.145 (agile practices, empowerment, innovation, project success),- https://doi.org/10.2478/picbe-2025-0172 (large-organization adoption challenges and enablers),- Uploaded deck used as project-specific baseline for SNHU Travel observations: Agile_Presentation_ChadaTech_SNHU_Travel.pptx,[/Sources]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[Sources],- References slide content derived from source landing pages and DOI records used in this deck,[/Sources]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A2E5D"/>
          </a:solidFill>
          <a:ln w="12700">
            <a:solidFill>
              <a:srgbClr val="0A2E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2E5D"/>
          </a:solidFill>
          <a:ln w="12700">
            <a:solidFill>
              <a:srgbClr val="0A2E5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56248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CS 250 • Agile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326880" y="6556248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Matthew Dickinson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1088136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005840" y="141732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2E5D"/>
                </a:solidFill>
              </a:rPr>
              <a:t>Transitioning from Waterfall to Scrum-Agile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05840" y="233172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7490"/>
                </a:solidFill>
              </a:rPr>
              <a:t>Lessons from the SNHU Travel Pilot (ChadaTech)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24128" y="30632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Matthew Dickinson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CS 250: Software Development Lifecycle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Southern New Hampshire University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April 19, 2026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75320" y="146304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FFF7E0"/>
          </a:solidFill>
          <a:ln w="12700">
            <a:solidFill>
              <a:srgbClr val="C18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39912" y="1609344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Requirements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390888" y="2075688"/>
            <a:ext cx="502920" cy="256032"/>
          </a:xfrm>
          <a:prstGeom prst="chevron">
            <a:avLst/>
          </a:prstGeom>
          <a:solidFill>
            <a:srgbClr val="B8C4D6"/>
          </a:solidFill>
          <a:ln w="12700">
            <a:solidFill>
              <a:srgbClr val="B8C4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75320" y="233172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EEF4FF"/>
          </a:solidFill>
          <a:ln w="12700">
            <a:solidFill>
              <a:srgbClr val="C18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39912" y="2478024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Design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390888" y="2944368"/>
            <a:ext cx="502920" cy="256032"/>
          </a:xfrm>
          <a:prstGeom prst="chevron">
            <a:avLst/>
          </a:prstGeom>
          <a:solidFill>
            <a:srgbClr val="B8C4D6"/>
          </a:solidFill>
          <a:ln w="12700">
            <a:solidFill>
              <a:srgbClr val="B8C4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75320" y="320040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EAF7E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9912" y="3346704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Build/Test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390888" y="3813048"/>
            <a:ext cx="502920" cy="256032"/>
          </a:xfrm>
          <a:prstGeom prst="chevron">
            <a:avLst/>
          </a:prstGeom>
          <a:solidFill>
            <a:srgbClr val="B8C4D6"/>
          </a:solidFill>
          <a:ln w="12700">
            <a:solidFill>
              <a:srgbClr val="B8C4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406908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E6F7FB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9912" y="4215384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Review/Adapt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03720" y="49834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i="1" dirty="0">
                <a:solidFill>
                  <a:srgbClr val="667085"/>
                </a:solidFill>
              </a:rPr>
              <a:t>Executive takeaway: Scrum keeps delivery moving while letting scope adapt as learning happens.</a:t>
            </a:r>
            <a:endParaRPr lang="en-US" sz="13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E5D"/>
                </a:solidFill>
              </a:rPr>
              <a:t>Scrum-Agile roles and why they matter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Each role protects a different part of delivery: value, process health, and execution.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246120" cy="41605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645920"/>
            <a:ext cx="2953512" cy="512064"/>
          </a:xfrm>
          <a:prstGeom prst="roundRect">
            <a:avLst>
              <a:gd name="adj" fmla="val 7143"/>
            </a:avLst>
          </a:prstGeom>
          <a:solidFill>
            <a:srgbClr val="FFF7E0"/>
          </a:solidFill>
          <a:ln w="12700">
            <a:solidFill>
              <a:srgbClr val="C18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8013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Product Owner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96112" y="2423160"/>
            <a:ext cx="269748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Owns the product vision and backlog priority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Clarifies acceptance criteria and tradeoffs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Maximizes stakeholder value from each sprint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9536" y="5029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7085"/>
                </a:solidFill>
              </a:rPr>
              <a:t>Value ownership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50792" y="1463040"/>
            <a:ext cx="3246120" cy="41605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97096" y="1645920"/>
            <a:ext cx="2953512" cy="512064"/>
          </a:xfrm>
          <a:prstGeom prst="roundRect">
            <a:avLst>
              <a:gd name="adj" fmla="val 7143"/>
            </a:avLst>
          </a:prstGeom>
          <a:solidFill>
            <a:srgbClr val="EEF4FF"/>
          </a:solidFill>
          <a:ln w="12700">
            <a:solidFill>
              <a:srgbClr val="0A2E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8013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Scrum Master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306824" y="2423160"/>
            <a:ext cx="269748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Facilitates Scrum events and keeps timeboxes healthy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Removes blockers and coaches the team on empiricism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Protects focus so work can flow sprint to sprint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70248" y="5029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7085"/>
                </a:solidFill>
              </a:rPr>
              <a:t>Process leadership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61504" y="1463040"/>
            <a:ext cx="3246120" cy="41605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07808" y="1645920"/>
            <a:ext cx="2953512" cy="512064"/>
          </a:xfrm>
          <a:prstGeom prst="roundRect">
            <a:avLst>
              <a:gd name="adj" fmla="val 7143"/>
            </a:avLst>
          </a:prstGeom>
          <a:solidFill>
            <a:srgbClr val="EAF7EF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08392" y="18013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Developers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17536" y="2423160"/>
            <a:ext cx="269748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Estimate, build, test, and integrate the increment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Collaborate daily to turn stories into “Done” work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Raise risks early so rework stays small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680960" y="5029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7085"/>
                </a:solidFill>
              </a:rPr>
              <a:t>Delivery accountability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1447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67085"/>
                </a:solidFill>
              </a:rPr>
              <a:t>(Schwaber &amp; Sutherland, 2020)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E5D"/>
                </a:solidFill>
              </a:rPr>
              <a:t>How Agile phases work inside the SDLC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In Scrum, planning, building, testing, review, and learning repeat in short cycles instead of one long sequence.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49808" y="1920240"/>
            <a:ext cx="1417320" cy="932688"/>
          </a:xfrm>
          <a:prstGeom prst="roundRect">
            <a:avLst>
              <a:gd name="adj" fmla="val 5882"/>
            </a:avLst>
          </a:prstGeom>
          <a:solidFill>
            <a:srgbClr val="FFF7E0"/>
          </a:solidFill>
          <a:ln w="12700">
            <a:solidFill>
              <a:srgbClr val="C18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76272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Vision &amp;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Backlog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31136" y="2212848"/>
            <a:ext cx="310896" cy="329184"/>
          </a:xfrm>
          <a:prstGeom prst="chevron">
            <a:avLst/>
          </a:prstGeom>
          <a:solidFill>
            <a:srgbClr val="AEB8C5"/>
          </a:solidFill>
          <a:ln w="12700">
            <a:solidFill>
              <a:srgbClr val="AEB8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24328" y="1920240"/>
            <a:ext cx="1417320" cy="932688"/>
          </a:xfrm>
          <a:prstGeom prst="roundRect">
            <a:avLst>
              <a:gd name="adj" fmla="val 5882"/>
            </a:avLst>
          </a:prstGeom>
          <a:solidFill>
            <a:srgbClr val="EEF4FF"/>
          </a:solidFill>
          <a:ln w="12700">
            <a:solidFill>
              <a:srgbClr val="0A2E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2176272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Sprint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Planning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05656" y="2212848"/>
            <a:ext cx="310896" cy="329184"/>
          </a:xfrm>
          <a:prstGeom prst="chevron">
            <a:avLst/>
          </a:prstGeom>
          <a:solidFill>
            <a:srgbClr val="AEB8C5"/>
          </a:solidFill>
          <a:ln w="12700">
            <a:solidFill>
              <a:srgbClr val="AEB8C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8848" y="1920240"/>
            <a:ext cx="1417320" cy="932688"/>
          </a:xfrm>
          <a:prstGeom prst="roundRect">
            <a:avLst>
              <a:gd name="adj" fmla="val 5882"/>
            </a:avLst>
          </a:prstGeom>
          <a:solidFill>
            <a:srgbClr val="EAF7EF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176272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Build &amp;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Integrate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80176" y="2212848"/>
            <a:ext cx="310896" cy="329184"/>
          </a:xfrm>
          <a:prstGeom prst="chevron">
            <a:avLst/>
          </a:prstGeom>
          <a:solidFill>
            <a:srgbClr val="AEB8C5"/>
          </a:solidFill>
          <a:ln w="12700">
            <a:solidFill>
              <a:srgbClr val="AEB8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73368" y="1920240"/>
            <a:ext cx="1417320" cy="932688"/>
          </a:xfrm>
          <a:prstGeom prst="roundRect">
            <a:avLst>
              <a:gd name="adj" fmla="val 5882"/>
            </a:avLst>
          </a:prstGeom>
          <a:solidFill>
            <a:srgbClr val="E6F7FB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176272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Test Within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Sprint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854696" y="2212848"/>
            <a:ext cx="310896" cy="329184"/>
          </a:xfrm>
          <a:prstGeom prst="chevron">
            <a:avLst/>
          </a:prstGeom>
          <a:solidFill>
            <a:srgbClr val="AEB8C5"/>
          </a:solidFill>
          <a:ln w="12700">
            <a:solidFill>
              <a:srgbClr val="AEB8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47888" y="1920240"/>
            <a:ext cx="1417320" cy="932688"/>
          </a:xfrm>
          <a:prstGeom prst="roundRect">
            <a:avLst>
              <a:gd name="adj" fmla="val 5882"/>
            </a:avLst>
          </a:prstGeom>
          <a:solidFill>
            <a:srgbClr val="EEF4FF"/>
          </a:solidFill>
          <a:ln w="12700">
            <a:solidFill>
              <a:srgbClr val="0A2E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176272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Sprint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Review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729216" y="2212848"/>
            <a:ext cx="310896" cy="329184"/>
          </a:xfrm>
          <a:prstGeom prst="chevron">
            <a:avLst/>
          </a:prstGeom>
          <a:solidFill>
            <a:srgbClr val="AEB8C5"/>
          </a:solidFill>
          <a:ln w="12700">
            <a:solidFill>
              <a:srgbClr val="AEB8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22408" y="1920240"/>
            <a:ext cx="1417320" cy="932688"/>
          </a:xfrm>
          <a:prstGeom prst="roundRect">
            <a:avLst>
              <a:gd name="adj" fmla="val 5882"/>
            </a:avLst>
          </a:prstGeom>
          <a:solidFill>
            <a:srgbClr val="FDECEC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95560" y="2176272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Retro &amp;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Improve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68680" y="3794760"/>
            <a:ext cx="103784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40690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Why this matters for the SNHU Travel pilot: </a:t>
            </a:r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feedback arrived every sprint, so requirements could be refined before late-stage defects or scope surprises became expensive.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97280" y="4617720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Agile SDLC = iterative discovery + delivery. Testing is built into the sprint, not saved for the end.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1447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67085"/>
                </a:solidFill>
              </a:rPr>
              <a:t>(Schwaber &amp; Sutherland, 2020; Stan et al., 2025)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E5D"/>
                </a:solidFill>
              </a:rPr>
              <a:t>How the project would differ under a waterfall model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Waterfall delivers through fixed phases. That improves predictability but makes midstream changes slower and more expensive.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E5D"/>
                </a:solidFill>
              </a:rPr>
              <a:t>Waterfall sequence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3383280" cy="438912"/>
          </a:xfrm>
          <a:prstGeom prst="roundRect">
            <a:avLst>
              <a:gd name="adj" fmla="val 8333"/>
            </a:avLst>
          </a:prstGeom>
          <a:solidFill>
            <a:srgbClr val="FFF7E0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9476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Requirements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 rot="5400000">
            <a:off x="2377440" y="2304288"/>
            <a:ext cx="457200" cy="164592"/>
          </a:xfrm>
          <a:prstGeom prst="chevron">
            <a:avLst/>
          </a:prstGeom>
          <a:solidFill>
            <a:srgbClr val="AEB8C5"/>
          </a:solidFill>
          <a:ln w="12700">
            <a:solidFill>
              <a:srgbClr val="AEB8C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487168"/>
            <a:ext cx="3383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6060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Design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 rot="5400000">
            <a:off x="2377440" y="2962656"/>
            <a:ext cx="457200" cy="164592"/>
          </a:xfrm>
          <a:prstGeom prst="chevron">
            <a:avLst/>
          </a:prstGeom>
          <a:solidFill>
            <a:srgbClr val="AEB8C5"/>
          </a:solidFill>
          <a:ln w="12700">
            <a:solidFill>
              <a:srgbClr val="AEB8C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145536"/>
            <a:ext cx="3383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6440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Implementation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 rot="5400000">
            <a:off x="2377440" y="3621024"/>
            <a:ext cx="457200" cy="164592"/>
          </a:xfrm>
          <a:prstGeom prst="chevron">
            <a:avLst/>
          </a:prstGeom>
          <a:solidFill>
            <a:srgbClr val="AEB8C5"/>
          </a:solidFill>
          <a:ln w="12700">
            <a:solidFill>
              <a:srgbClr val="AEB8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803904"/>
            <a:ext cx="3383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92277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Verification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 rot="5400000">
            <a:off x="2377440" y="4279392"/>
            <a:ext cx="457200" cy="164592"/>
          </a:xfrm>
          <a:prstGeom prst="chevron">
            <a:avLst/>
          </a:prstGeom>
          <a:solidFill>
            <a:srgbClr val="AEB8C5"/>
          </a:solidFill>
          <a:ln w="12700">
            <a:solidFill>
              <a:srgbClr val="AEB8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462272"/>
            <a:ext cx="3383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58114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Deployment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6112" y="5349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7085"/>
                </a:solidFill>
              </a:rPr>
              <a:t>Change request effect: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67085"/>
                </a:solidFill>
              </a:rPr>
              <a:t>Often forces rework in earlier documents, sign-off, cost, and schedule baselines.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30936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E5D"/>
                </a:solidFill>
              </a:rPr>
              <a:t>Impact on the SNHU Travel pilot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355080" y="1828800"/>
            <a:ext cx="4892040" cy="315468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83680" y="2148840"/>
            <a:ext cx="443484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Promotional and ranking changes would have been harder to absorb once requirements were signed off.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Testing feedback would likely arrive later, increasing the chance of rework near final verification.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Stakeholder learning would have influenced future phases less often because the plan would be more locked upfront.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65392" y="45720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7085"/>
                </a:solidFill>
              </a:rPr>
              <a:t>Best fit when requirements are stable, compliance is high, and scope must stay fixed.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1447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67085"/>
                </a:solidFill>
              </a:rPr>
              <a:t>(Gorski et al., 2024; Stan et al., 2025)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E5D"/>
                </a:solidFill>
              </a:rPr>
              <a:t>How to choose between waterfall and Agile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The decision should match the level of uncertainty, feedback needs, governance, and cost of change.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13232" y="1554480"/>
            <a:ext cx="5303520" cy="3794760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0" y="1554480"/>
            <a:ext cx="5303520" cy="3794760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855A"/>
                </a:solidFill>
              </a:rPr>
              <a:t>Choose Scrum-Agile when…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82512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8A00"/>
                </a:solidFill>
              </a:rPr>
              <a:t>Choose Waterfall when…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2240280"/>
            <a:ext cx="466344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Requirements are evolving or uncertain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Time-to-market matters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Stakeholders can review progress often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Work benefits from frequent validation and reprioritization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28232" y="2240280"/>
            <a:ext cx="466344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Requirements are stable and contract-fixed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Compliance or approval gates are heavy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Scope is well understood and low risk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Stakeholder feedback is limited or infrequent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965960" y="5440680"/>
            <a:ext cx="8275320" cy="457200"/>
          </a:xfrm>
          <a:prstGeom prst="roundRect">
            <a:avLst>
              <a:gd name="adj" fmla="val 8000"/>
            </a:avLst>
          </a:prstGeom>
          <a:solidFill>
            <a:srgbClr val="0A2E5D"/>
          </a:solidFill>
          <a:ln w="12700">
            <a:solidFill>
              <a:srgbClr val="0A2E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5586984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Decision rule: use Agile for learning-driven work; use waterfall for stable, highly governed work; use hybrid when both realities exist.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61447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67085"/>
                </a:solidFill>
              </a:rPr>
              <a:t>(Gorski et al., 2024; Stan et al., 2025)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E5D"/>
                </a:solidFill>
              </a:rPr>
              <a:t>Recommendation for ChadaTech leadership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For the SNHU Travel pilot, Scrum-Agile was the stronger fit because the work benefited from fast feedback, reprioritization, and visible progress.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49808" y="1572768"/>
            <a:ext cx="3794760" cy="4297680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922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E5D"/>
                </a:solidFill>
              </a:rPr>
              <a:t>What we observed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212848"/>
            <a:ext cx="324612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Backlog refinement improved story clarity before build work expanded.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Daily Scrums surfaced blockers early enough to protect sprint cadence.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Sprint Reviews turned stakeholder feedback into reprioritized backlog items instead of late surprises.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36592" y="1572768"/>
            <a:ext cx="6675120" cy="2057400"/>
          </a:xfrm>
          <a:prstGeom prst="roundRect">
            <a:avLst>
              <a:gd name="adj" fmla="val 2222"/>
            </a:avLst>
          </a:prstGeom>
          <a:solidFill>
            <a:srgbClr val="E6F7FB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8013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490"/>
                </a:solidFill>
              </a:rPr>
              <a:t>Recommendation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83480" y="2167128"/>
            <a:ext cx="5989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Adopt Scrum-Agile for innovation and client-customization work, but support it with backlog standards, a clear Definition of Done, and coaching for stakeholders and teams.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36592" y="3767328"/>
            <a:ext cx="6675120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39684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E5D"/>
                </a:solidFill>
              </a:rPr>
              <a:t>Why the research supports that choice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83480" y="4315968"/>
            <a:ext cx="585216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480" dirty="0">
                <a:solidFill>
                  <a:srgbClr val="1F2937"/>
                </a:solidFill>
              </a:rPr>
              <a:t>Agile practices are linked to empowerment, innovative behavior, and project success.</a:t>
            </a:r>
            <a:endParaRPr lang="en-US" sz="1480" dirty="0"/>
          </a:p>
          <a:p>
            <a:pPr marL="177800" indent="-177800">
              <a:buSzPct val="100000"/>
              <a:buChar char="•"/>
            </a:pPr>
            <a:r>
              <a:rPr lang="en-US" sz="1480" dirty="0">
                <a:solidFill>
                  <a:srgbClr val="1F2937"/>
                </a:solidFill>
              </a:rPr>
              <a:t>Large organizations still need training, leadership support, and coordination mechanisms to scale well.</a:t>
            </a:r>
            <a:endParaRPr lang="en-US" sz="1480" dirty="0"/>
          </a:p>
          <a:p>
            <a:pPr marL="177800" indent="-177800">
              <a:buSzPct val="100000"/>
              <a:buChar char="•"/>
            </a:pPr>
            <a:r>
              <a:rPr lang="en-US" sz="1480" dirty="0">
                <a:solidFill>
                  <a:srgbClr val="1F2937"/>
                </a:solidFill>
              </a:rPr>
              <a:t>IBM’s Sales Cloud transformation shows that agile governance and culture can work at enterprise scale.</a:t>
            </a:r>
            <a:endParaRPr lang="en-US" sz="1480" dirty="0"/>
          </a:p>
        </p:txBody>
      </p:sp>
      <p:sp>
        <p:nvSpPr>
          <p:cNvPr id="13" name="Text 11"/>
          <p:cNvSpPr/>
          <p:nvPr/>
        </p:nvSpPr>
        <p:spPr>
          <a:xfrm>
            <a:off x="548640" y="61447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67085"/>
                </a:solidFill>
              </a:rPr>
              <a:t>(Foley, 2025; Shahid et al., 2025; Stan et al., 2025)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E5D"/>
                </a:solidFill>
              </a:rPr>
              <a:t>References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APA 7th edition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789920" cy="5212080"/>
          </a:xfrm>
          <a:prstGeom prst="roundRect">
            <a:avLst>
              <a:gd name="adj" fmla="val 70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664208"/>
            <a:ext cx="10058400" cy="4526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Foley, J. (2025, August 1). IBM Sales Cloud: Transforming the way we sell globally. Agile Alliance. https://agilealliance.org/resources/experience-reports/ibm-sales-cloud-transforming-the-way-we-sell-globally/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Gorski, H., Gligorea, I., Brudan, A., &amp; Oancea, R. (2024). Agile project management in the age of digital transformation: Exploring emerging trends. International Conference Knowledge-Based Organization, 30(3), 1–10. https://doi.org/10.2478/kbo-2024-0087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Schwaber, K., &amp; Sutherland, J. (2020). The Scrum Guide: The definitive guide to Scrum: The rules of the game. Scrum Guides. https://scrumguides.org/scrum-guide.html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Shahid, M., Iqbal, N., &amp; Waseem, M. (2025). The impact of behavioral and cognitive outcomes of agile project management practices on project success. Administrative and Management Sciences Journal, 3(2), 202–213. https://doi.org/10.59365/amsj.3(2).2025.145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Stan, N. M., Titu, A. M., &amp; Iamandii, A.-F. (2025). Agile project management in large organizations: Challenges and solutions. Proceedings of the International Conference on Business Excellence, 19(1), 2224–2242. https://doi.org/10.2478/picbe-2025-0172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Transitioning from Waterfall to Scrum-Agile</dc:title>
  <dc:subject>Agile Presentation for CS250</dc:subject>
  <dc:creator>OpenAI</dc:creator>
  <cp:lastModifiedBy>OpenAI</cp:lastModifiedBy>
  <cp:revision>1</cp:revision>
  <dcterms:created xsi:type="dcterms:W3CDTF">2026-04-18T15:49:02Z</dcterms:created>
  <dcterms:modified xsi:type="dcterms:W3CDTF">2026-04-18T15:49:02Z</dcterms:modified>
</cp:coreProperties>
</file>